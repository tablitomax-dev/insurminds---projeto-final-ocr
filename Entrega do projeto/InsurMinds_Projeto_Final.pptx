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12191695" cy="64008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InsurMinds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FE3F5"/>
                </a:solidFill>
                <a:latin typeface="Calibri"/>
              </a:rPr>
              <a:t>Plataforma Inteligente para Análise e Comparação de Apólices D&amp;O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8C8E4"/>
                </a:solidFill>
                <a:latin typeface="Calibri"/>
              </a:rPr>
              <a:t>Da documentação ao relatório, com o poder da IA para apoiar decisões mais seguras.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Grupo AlgorithLabs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E3F5"/>
                </a:solidFill>
                <a:latin typeface="Calibri"/>
              </a:rPr>
              <a:t>Giovani Amiti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E3F5"/>
                </a:solidFill>
                <a:latin typeface="Calibri"/>
              </a:rPr>
              <a:t>Pablo Benachio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E3F5"/>
                </a:solidFill>
                <a:latin typeface="Calibri"/>
              </a:rPr>
              <a:t>Eridalgo Ramos da Silva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794760"/>
            <a:ext cx="3931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Instituto de Inteligência Artificial Aplicada — I2A2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A8C8E4"/>
                </a:solidFill>
                <a:latin typeface="Calibri"/>
              </a:rPr>
              <a:t>Desafio Final · Projeto Integrador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A8C8E4"/>
                </a:solidFill>
                <a:latin typeface="Calibri"/>
              </a:rPr>
              <a:t>Outubro de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806440"/>
            <a:ext cx="4754880" cy="502920"/>
          </a:xfrm>
          <a:prstGeom prst="roundRect">
            <a:avLst/>
          </a:prstGeom>
          <a:solidFill>
            <a:srgbClr val="1B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888736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Protótipo funcional (MVP) · 475 testes aprovados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5B6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3A5E"/>
                </a:solidFill>
                <a:latin typeface="Calibri"/>
              </a:rPr>
              <a:t>O problema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463040" cy="54864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5C6C"/>
                </a:solidFill>
                <a:latin typeface="Calibri"/>
              </a:rPr>
              <a:t>InsurMinds · Grupo AlgorithLabs · I2A2 · Outubro/2026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A5C6C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4A5C6C"/>
                </a:solidFill>
                <a:latin typeface="Calibri"/>
              </a:rPr>
              <a:t>Comparar apólices D&amp;O hoje é manual, lento e sem rastreabilidade.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57400"/>
            <a:ext cx="36118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57400"/>
            <a:ext cx="82296" cy="1920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16712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Documentos complexos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551176"/>
            <a:ext cx="3282696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Apólices longas, em linguagem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jurídica; cláusulas, exclusões,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limites e endossos espalhados.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057400"/>
            <a:ext cx="36118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2057400"/>
            <a:ext cx="82296" cy="1920240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216712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Horas de especialista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551176"/>
            <a:ext cx="3282696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Cada cotação ou renovação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exige leitura integral dos PDFs —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repetida a cada novo documento.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2057400"/>
            <a:ext cx="36118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2057400"/>
            <a:ext cx="82296" cy="19202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216712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Sem rastreabilidade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2551176"/>
            <a:ext cx="3282696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A recomendação raramente aponta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a página e o trecho que a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sustentam. O risco passa batido.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3400"/>
            <a:ext cx="11237976" cy="1600200"/>
          </a:xfrm>
          <a:prstGeom prst="round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53712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A5E"/>
                </a:solidFill>
                <a:latin typeface="Calibri"/>
              </a:rPr>
              <a:t>O risco real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2733"/>
                </a:solidFill>
                <a:latin typeface="Calibri"/>
              </a:rPr>
              <a:t>Uma exclusão ou um limite inferior em relação à apólice comparada pode passar despercebido —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2733"/>
                </a:solidFill>
                <a:latin typeface="Calibri"/>
              </a:rPr>
              <a:t>com impacto contratual e reputacional para o segurado e para a corretora.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5B6"/>
                </a:solidFill>
                <a:latin typeface="Calibri"/>
              </a:rPr>
              <a:t>PROPOSTA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3A5E"/>
                </a:solidFill>
                <a:latin typeface="Calibri"/>
              </a:rPr>
              <a:t>A solução: InsurMinds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463040" cy="54864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5C6C"/>
                </a:solidFill>
                <a:latin typeface="Calibri"/>
              </a:rPr>
              <a:t>InsurMinds · Grupo AlgorithLabs · I2A2 · Outubro/2026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A5C6C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A5C6C"/>
                </a:solidFill>
                <a:latin typeface="Calibri"/>
              </a:rPr>
              <a:t>Uma plataforma de IA que extrai, organiza e compara informações de apólices D&amp;O — com evidência anexada a cada dado.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3611880" cy="2286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82296" cy="2286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25856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Rastreabilidade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642616"/>
            <a:ext cx="3282696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Todo fato aponta para a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página e o trecho da apólice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que o originam.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O analista defende a análise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com prova documental.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148840"/>
            <a:ext cx="3611880" cy="2286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2148840"/>
            <a:ext cx="82296" cy="2286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225856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Comparação determinística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642616"/>
            <a:ext cx="3282696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O LLM extrai e explica —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quem compara são regras.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Nenhuma alucinação no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resultado apresentado.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2148840"/>
            <a:ext cx="3611880" cy="2286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2148840"/>
            <a:ext cx="82296" cy="2286000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225856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Decisão apoiada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2642616"/>
            <a:ext cx="3282696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Relatório D&amp;O com ranking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parametrizável, cenários de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sensibilidade e checklist.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Da comparação à recomendação.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00600"/>
            <a:ext cx="11237976" cy="1143000"/>
          </a:xfrm>
          <a:prstGeom prst="round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1091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Mais eficiência na análise de apólices. Mais segurança nas decisões.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CFE3F5"/>
                </a:solidFill>
                <a:latin typeface="Calibri"/>
              </a:rPr>
              <a:t>Horas de trabalho manual → minutos de processamento automatizado e auditável.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5B6"/>
                </a:solidFill>
                <a:latin typeface="Calibri"/>
              </a:rPr>
              <a:t>PRODUTO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3A5E"/>
                </a:solidFill>
                <a:latin typeface="Calibri"/>
              </a:rPr>
              <a:t>Como funciona: fluxo ponta a ponta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463040" cy="54864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5C6C"/>
                </a:solidFill>
                <a:latin typeface="Calibri"/>
              </a:rPr>
              <a:t>InsurMinds · Grupo AlgorithLabs · I2A2 · Outubro/2026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A5C6C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600200"/>
            <a:ext cx="1591056" cy="4206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600200"/>
            <a:ext cx="1591056" cy="56692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673352"/>
            <a:ext cx="15910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1. Recebimento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2331720"/>
            <a:ext cx="1371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Upload de 2 PDFs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Validação de formato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Registro temporário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48256" y="1600200"/>
            <a:ext cx="1591056" cy="4206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48256" y="1600200"/>
            <a:ext cx="1591056" cy="56692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48256" y="1673352"/>
            <a:ext cx="15910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2. Extração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7984" y="2331720"/>
            <a:ext cx="1371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Texto nativo (PyMuPDF)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OCR (PaddleOCR)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Layout (PP-StructureV3)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12464" y="1600200"/>
            <a:ext cx="1591056" cy="4206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12464" y="1600200"/>
            <a:ext cx="1591056" cy="56692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2464" y="1673352"/>
            <a:ext cx="15910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3. Organização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2" y="2331720"/>
            <a:ext cx="1371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Markdown por seções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Metadados + hash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Normalização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76672" y="1600200"/>
            <a:ext cx="1591056" cy="4206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76672" y="1600200"/>
            <a:ext cx="1591056" cy="56692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6672" y="1673352"/>
            <a:ext cx="15910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4. Armazenamento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331720"/>
            <a:ext cx="1371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Banco vetorial (Qdrant)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Banco relacional (DuckDB)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Versionamento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1600200"/>
            <a:ext cx="1591056" cy="4206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40880" y="1600200"/>
            <a:ext cx="1591056" cy="566928"/>
          </a:xfrm>
          <a:prstGeom prst="round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1673352"/>
            <a:ext cx="15910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5. Consulta com 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2331720"/>
            <a:ext cx="1371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Busca semântica (RAG)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Agente de perguntas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Citação de evidências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05088" y="1600200"/>
            <a:ext cx="1591056" cy="4206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05088" y="1600200"/>
            <a:ext cx="1591056" cy="566928"/>
          </a:xfrm>
          <a:prstGeom prst="round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05088" y="1673352"/>
            <a:ext cx="15910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6. Comparação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14816" y="2331720"/>
            <a:ext cx="1371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Campo a campo (A × B)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Regras determinísticas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Diferenças + direção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69296" y="1600200"/>
            <a:ext cx="1591056" cy="4206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369296" y="1600200"/>
            <a:ext cx="1591056" cy="566928"/>
          </a:xfrm>
          <a:prstGeom prst="round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69296" y="1673352"/>
            <a:ext cx="15910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7. Apresentação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79024" y="2331720"/>
            <a:ext cx="1371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Relatório D&amp;O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Interface Streamlit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C2733"/>
                </a:solidFill>
                <a:latin typeface="Calibri"/>
              </a:rPr>
              <a:t>▪ Exportação + revisão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594360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5C6C"/>
                </a:solidFill>
                <a:latin typeface="Calibri"/>
              </a:rPr>
              <a:t>Pipeline automático de ponta a ponta — do PDF à recomendação fundamentada.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5B6"/>
                </a:solidFill>
                <a:latin typeface="Calibri"/>
              </a:rPr>
              <a:t>ENGENHARIA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3A5E"/>
                </a:solidFill>
                <a:latin typeface="Calibri"/>
              </a:rPr>
              <a:t>Arquitetura da solução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463040" cy="54864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5C6C"/>
                </a:solidFill>
                <a:latin typeface="Calibri"/>
              </a:rPr>
              <a:t>InsurMinds · Grupo AlgorithLabs · I2A2 · Outubro/2026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A5C6C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5C6C"/>
                </a:solidFill>
                <a:latin typeface="Calibri"/>
              </a:rPr>
              <a:t>Monólito modular em Python: limites internos explícitos, contratos versionados e responsabilidades bem separadas.</a:t>
            </a:r>
          </a:p>
        </p:txBody>
      </p:sp>
      <p:pic>
        <p:nvPicPr>
          <p:cNvPr id="10" name="Picture 9" descr="relatorio-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747" y="1783080"/>
            <a:ext cx="61722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053328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C6C"/>
                </a:solidFill>
                <a:latin typeface="Calibri"/>
              </a:rPr>
              <a:t>Módulos: document_processing (OCR/RAG) · policy_analysis (análise e relatório) · evaluation (qualidade) · shared_kernel (contratos)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5B6"/>
                </a:solidFill>
                <a:latin typeface="Calibri"/>
              </a:rPr>
              <a:t>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3A5E"/>
                </a:solidFill>
                <a:latin typeface="Calibri"/>
              </a:rPr>
              <a:t>Tecnologias utilizadas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463040" cy="54864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5C6C"/>
                </a:solidFill>
                <a:latin typeface="Calibri"/>
              </a:rPr>
              <a:t>InsurMinds · Grupo AlgorithLabs · I2A2 · Outubro/2026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A5C6C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2148840" cy="16916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2148840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187451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3A5E"/>
                </a:solidFill>
                <a:latin typeface="Calibri"/>
              </a:rPr>
              <a:t>Python 3.12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C6C"/>
                </a:solidFill>
                <a:latin typeface="Calibri"/>
              </a:rPr>
              <a:t>Linguagem do projeto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691640"/>
            <a:ext cx="2148840" cy="16916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07208" y="1691640"/>
            <a:ext cx="2148840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2011680"/>
            <a:ext cx="187451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3A5E"/>
                </a:solidFill>
                <a:latin typeface="Calibri"/>
              </a:rPr>
              <a:t>Pydantic + Pydantic AI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C6C"/>
                </a:solidFill>
                <a:latin typeface="Calibri"/>
              </a:rPr>
              <a:t>Contratos e agentes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1496" y="1691640"/>
            <a:ext cx="2148840" cy="16916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11496" y="1691640"/>
            <a:ext cx="2148840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8656" y="2011680"/>
            <a:ext cx="187451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3A5E"/>
                </a:solidFill>
                <a:latin typeface="Calibri"/>
              </a:rPr>
              <a:t>LLM multi-provedor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C6C"/>
                </a:solidFill>
                <a:latin typeface="Calibri"/>
              </a:rPr>
              <a:t>Gemini · OpenRouter (env)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5784" y="1691640"/>
            <a:ext cx="2148840" cy="16916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15784" y="1691640"/>
            <a:ext cx="2148840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2011680"/>
            <a:ext cx="187451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3A5E"/>
                </a:solidFill>
                <a:latin typeface="Calibri"/>
              </a:rPr>
              <a:t>PaddleOCR / PP-StructureV3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C6C"/>
                </a:solidFill>
                <a:latin typeface="Calibri"/>
              </a:rPr>
              <a:t>OCR e layout → markdown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20072" y="1691640"/>
            <a:ext cx="2148840" cy="16916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20072" y="1691640"/>
            <a:ext cx="2148840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57232" y="2011680"/>
            <a:ext cx="187451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3A5E"/>
                </a:solidFill>
                <a:latin typeface="Calibri"/>
              </a:rPr>
              <a:t>PyMuPDF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C6C"/>
                </a:solidFill>
                <a:latin typeface="Calibri"/>
              </a:rPr>
              <a:t>Texto nativo de PDF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657600"/>
            <a:ext cx="2148840" cy="16916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657600"/>
            <a:ext cx="2148840" cy="822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77639"/>
            <a:ext cx="187451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3A5E"/>
                </a:solidFill>
                <a:latin typeface="Calibri"/>
              </a:rPr>
              <a:t>Gemini Embeddings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C6C"/>
                </a:solidFill>
                <a:latin typeface="Calibri"/>
              </a:rPr>
              <a:t>Vetores semânticos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07208" y="3657600"/>
            <a:ext cx="2148840" cy="16916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07208" y="3657600"/>
            <a:ext cx="2148840" cy="822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44368" y="3977639"/>
            <a:ext cx="187451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3A5E"/>
                </a:solidFill>
                <a:latin typeface="Calibri"/>
              </a:rPr>
              <a:t>Qdrant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C6C"/>
                </a:solidFill>
                <a:latin typeface="Calibri"/>
              </a:rPr>
              <a:t>Banco vetorial local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11496" y="3657600"/>
            <a:ext cx="2148840" cy="16916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11496" y="3657600"/>
            <a:ext cx="2148840" cy="822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48656" y="3977639"/>
            <a:ext cx="187451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3A5E"/>
                </a:solidFill>
                <a:latin typeface="Calibri"/>
              </a:rPr>
              <a:t>DuckDB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C6C"/>
                </a:solidFill>
                <a:latin typeface="Calibri"/>
              </a:rPr>
              <a:t>Relacional local + migrações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15784" y="3657600"/>
            <a:ext cx="2148840" cy="16916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15784" y="3657600"/>
            <a:ext cx="2148840" cy="822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3977639"/>
            <a:ext cx="187451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3A5E"/>
                </a:solidFill>
                <a:latin typeface="Calibri"/>
              </a:rPr>
              <a:t>Streamlit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C6C"/>
                </a:solidFill>
                <a:latin typeface="Calibri"/>
              </a:rPr>
              <a:t>Interface do analista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20072" y="3657600"/>
            <a:ext cx="2148840" cy="16916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20072" y="3657600"/>
            <a:ext cx="2148840" cy="822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7232" y="3977639"/>
            <a:ext cx="187451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3A5E"/>
                </a:solidFill>
                <a:latin typeface="Calibri"/>
              </a:rPr>
              <a:t>pytest · Ruff · mypy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C6C"/>
                </a:solidFill>
                <a:latin typeface="Calibri"/>
              </a:rPr>
              <a:t>Gate de qualidade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5C6C"/>
                </a:solidFill>
                <a:latin typeface="Calibri"/>
              </a:rPr>
              <a:t>OCR e processamento pesado 100% locais · LLM generativo por API com seleção de provedor via variável de ambiente.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5B6"/>
                </a:solidFill>
                <a:latin typeface="Calibri"/>
              </a:rPr>
              <a:t>INTELIGÊNCIA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3A5E"/>
                </a:solidFill>
                <a:latin typeface="Calibri"/>
              </a:rPr>
              <a:t>Agentes de IA especializados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463040" cy="54864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5C6C"/>
                </a:solidFill>
                <a:latin typeface="Calibri"/>
              </a:rPr>
              <a:t>InsurMinds · Grupo AlgorithLabs · I2A2 · Outubro/2026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A5C6C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26974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82296" cy="1920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82880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Extração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2733"/>
                </a:solidFill>
                <a:latin typeface="Calibri"/>
              </a:rPr>
              <a:t>Extrai fatos dos 10 campos críticos em 1 chamada por apólice.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645920"/>
            <a:ext cx="26974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645920"/>
            <a:ext cx="82296" cy="1920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182880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Explicação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2733"/>
                </a:solidFill>
                <a:latin typeface="Calibri"/>
              </a:rPr>
              <a:t>Explica cada diferença com as evidências dos dois lados.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645920"/>
            <a:ext cx="26974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645920"/>
            <a:ext cx="82296" cy="19202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182880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Agente de dúvidas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2733"/>
                </a:solidFill>
                <a:latin typeface="Calibri"/>
              </a:rPr>
              <a:t>Responde perguntas em linguagem natural citando fontes (RAG).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645920"/>
            <a:ext cx="26974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61704" y="1645920"/>
            <a:ext cx="82296" cy="19202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182880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Revisão por mensagem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2733"/>
                </a:solidFill>
                <a:latin typeface="Calibri"/>
              </a:rPr>
              <a:t>Analista corrige por texto; o agente aplica e registra.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94760"/>
            <a:ext cx="26974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82296" cy="1920240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97764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Achados extras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2733"/>
                </a:solidFill>
                <a:latin typeface="Calibri"/>
              </a:rPr>
              <a:t>Registra informações relevantes fora do catálogo.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5848" y="3794760"/>
            <a:ext cx="26974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55848" y="3794760"/>
            <a:ext cx="82296" cy="1920240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57016" y="397764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Seguradora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2733"/>
                </a:solidFill>
                <a:latin typeface="Calibri"/>
              </a:rPr>
              <a:t>Identifica a seguradora real do documento (rótulos fiéis).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3794760"/>
            <a:ext cx="26974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8776" y="3794760"/>
            <a:ext cx="82296" cy="192024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9944" y="397764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Relatório D&amp;O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2733"/>
                </a:solidFill>
                <a:latin typeface="Calibri"/>
              </a:rPr>
              <a:t>Organiza categorias, notas, conclusões e evidências.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61704" y="3794760"/>
            <a:ext cx="26974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61704" y="3794760"/>
            <a:ext cx="82296" cy="192024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2872" y="397764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Guardas e timeout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1C2733"/>
                </a:solidFill>
                <a:latin typeface="Calibri"/>
              </a:rPr>
              <a:t>Validam schema, normalizam valores e protegem o fluxo.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A5C6C"/>
                </a:solidFill>
                <a:latin typeface="Calibri"/>
              </a:rPr>
              <a:t>Cada agente tem responsabilidade única, contrato tipado e prompt versionado com fingerprint para auditoria.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5B6"/>
                </a:solidFill>
                <a:latin typeface="Calibri"/>
              </a:rPr>
              <a:t>POR QUE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3A5E"/>
                </a:solidFill>
                <a:latin typeface="Calibri"/>
              </a:rPr>
              <a:t>Diferenciais técnicos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463040" cy="54864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5C6C"/>
                </a:solidFill>
                <a:latin typeface="Calibri"/>
              </a:rPr>
              <a:t>InsurMinds · Grupo AlgorithLabs · I2A2 · Outubro/2026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A5C6C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5532120" cy="1417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82296" cy="1417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09928"/>
            <a:ext cx="5202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IA sem alucinação no 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93976"/>
            <a:ext cx="520293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O LLM extrai e explica; a comparação é 100% por regras.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Formato de saída validado por schema — dado corrompido nunca é salvo.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00200"/>
            <a:ext cx="5468112" cy="1417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00200"/>
            <a:ext cx="82296" cy="1417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709928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Evidência obrigatória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093976"/>
            <a:ext cx="5138928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Todo fato e toda célula do relatório apontam página e trecho.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Sem fonte? O sistema rotula “Requer confirmação”.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00400"/>
            <a:ext cx="5532120" cy="1417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200400"/>
            <a:ext cx="82296" cy="1417320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310128"/>
            <a:ext cx="5202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Humano no controle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3694176"/>
            <a:ext cx="520293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Fila de revisão e correção por mensagem em linguagem natural.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Toda decisão humana fica registrada e auditável.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200400"/>
            <a:ext cx="5468112" cy="1417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200400"/>
            <a:ext cx="82296" cy="141732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7" y="3310128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Engenharia verificada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694176"/>
            <a:ext cx="5138928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Contratos versionados entre módulos.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Regras de arquitetura impostas por teste automatizado.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83480"/>
            <a:ext cx="11237976" cy="960120"/>
          </a:xfrm>
          <a:prstGeom prst="round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389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A5E"/>
                </a:solidFill>
                <a:latin typeface="Calibri"/>
              </a:rPr>
              <a:t>Arquitetura desenhada para evoluir: multi-provedor de LLM, cache de OCR/markdown e modelo híbrido de campos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733"/>
                </a:solidFill>
                <a:latin typeface="Calibri"/>
              </a:rPr>
              <a:t>(catálogo fechado para comparação + achados livres para descoberta) já fazem parte da solução.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5B6"/>
                </a:solidFill>
                <a:latin typeface="Calibri"/>
              </a:rPr>
              <a:t>DIFERENCIAL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3A5E"/>
                </a:solidFill>
                <a:latin typeface="Calibri"/>
              </a:rPr>
              <a:t>Relatório D&amp;O: da comparação à decisão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463040" cy="54864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5C6C"/>
                </a:solidFill>
                <a:latin typeface="Calibri"/>
              </a:rPr>
              <a:t>InsurMinds · Grupo AlgorithLabs · I2A2 · Outubro/2026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A5C6C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A5C6C"/>
                </a:solidFill>
                <a:latin typeface="Calibri"/>
              </a:rPr>
              <a:t>Metodologia explícita em 11 seções — da identificação das seguradoras ao checklist final de verificação.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3611880" cy="18288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82296" cy="1828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07568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Catálogo amplo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459736"/>
            <a:ext cx="3282696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~80 campos em 8 categorias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(estrutura, gatilho temporal,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limites, exclusões, defesa...)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com vocabulário fechado.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965960"/>
            <a:ext cx="3611880" cy="18288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965960"/>
            <a:ext cx="82296" cy="1828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207568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Ranking parametrizável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459736"/>
            <a:ext cx="3282696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Nota = Σ(nota × peso) / 10,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com painel de pesos interativo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na interface — o analista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ajusta ao perfil do cliente.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1965960"/>
            <a:ext cx="3611880" cy="18288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1965960"/>
            <a:ext cx="82296" cy="1828800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207568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Cenários de sensibilidade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2459736"/>
            <a:ext cx="3282696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Como o ranking se comporta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sob diferentes prioridades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(custo × cobertura ×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rigidez de exclusões).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11237976" cy="1783080"/>
          </a:xfrm>
          <a:prstGeom prst="round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70832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Guarda de honestidade (§9): sem prêmio, LMG, LMIs, franquias e sublimites, o relatório</a:t>
            </a:r>
          </a:p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se recusa a declarar uma “vencedora geral” — dado incompleto não vira recomendação.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CFE3F5"/>
                </a:solidFill>
                <a:latin typeface="Calibri"/>
              </a:rPr>
              <a:t>Checklist final (§11) com 14 itens de conferência humana antes de fechar a análise.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5B6"/>
                </a:solidFill>
                <a:latin typeface="Calibri"/>
              </a:rPr>
              <a:t>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3A5E"/>
                </a:solidFill>
                <a:latin typeface="Calibri"/>
              </a:rPr>
              <a:t>A experiência do analista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463040" cy="54864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5C6C"/>
                </a:solidFill>
                <a:latin typeface="Calibri"/>
              </a:rPr>
              <a:t>InsurMinds · Grupo AlgorithLabs · I2A2 · Outubro/2026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A5C6C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6949440" cy="786384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658368" cy="786384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6583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09928"/>
            <a:ext cx="5943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A5E"/>
                </a:solidFill>
                <a:latin typeface="Calibri"/>
              </a:rPr>
              <a:t>Carregar as apólices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733"/>
                </a:solidFill>
                <a:latin typeface="Calibri"/>
              </a:rPr>
              <a:t>Upload A/B com rótulos pela seguradora real.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96312"/>
            <a:ext cx="6949440" cy="786384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496312"/>
            <a:ext cx="658368" cy="786384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79192"/>
            <a:ext cx="6583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606040"/>
            <a:ext cx="5943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A5E"/>
                </a:solidFill>
                <a:latin typeface="Calibri"/>
              </a:rPr>
              <a:t>Consulta livre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733"/>
                </a:solidFill>
                <a:latin typeface="Calibri"/>
              </a:rPr>
              <a:t>Perguntas em linguagem natural com evidências.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92424"/>
            <a:ext cx="6949440" cy="786384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392424"/>
            <a:ext cx="658368" cy="786384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75304"/>
            <a:ext cx="6583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502152"/>
            <a:ext cx="5943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A5E"/>
                </a:solidFill>
                <a:latin typeface="Calibri"/>
              </a:rPr>
              <a:t>Comparação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733"/>
                </a:solidFill>
                <a:latin typeface="Calibri"/>
              </a:rPr>
              <a:t>Tabela campo × resultado, direção e explicações.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88536"/>
            <a:ext cx="6949440" cy="786384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4288536"/>
            <a:ext cx="658368" cy="786384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471416"/>
            <a:ext cx="6583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398264"/>
            <a:ext cx="5943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A5E"/>
                </a:solidFill>
                <a:latin typeface="Calibri"/>
              </a:rPr>
              <a:t>Divergências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733"/>
                </a:solidFill>
                <a:latin typeface="Calibri"/>
              </a:rPr>
              <a:t>Revisão por mensagem com severidade registrada.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84648"/>
            <a:ext cx="6949440" cy="786384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5184648"/>
            <a:ext cx="658368" cy="786384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67528"/>
            <a:ext cx="6583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294376"/>
            <a:ext cx="5943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23A5E"/>
                </a:solidFill>
                <a:latin typeface="Calibri"/>
              </a:rPr>
              <a:t>Relatório D&amp;O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733"/>
                </a:solidFill>
                <a:latin typeface="Calibri"/>
              </a:rPr>
              <a:t>Pesos, ranking, sensibilidade, checklist e export.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1600200"/>
            <a:ext cx="4059936" cy="21488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80960" y="1600200"/>
            <a:ext cx="82296" cy="21488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82128" y="1709928"/>
            <a:ext cx="37307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Agente Inteligente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2128" y="2093976"/>
            <a:ext cx="3730752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Barra “Digite sua dúvida”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com respostas em linguagem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natural citando as evidências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usadas — assistente dentro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da própria análise.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3931920"/>
            <a:ext cx="4059936" cy="21488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80960" y="3931920"/>
            <a:ext cx="82296" cy="2148840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82128" y="4041648"/>
            <a:ext cx="37307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Métricas e auditoria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8" y="4425696"/>
            <a:ext cx="3730752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Qualidade da extração,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tokens e custo estimado por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chamada de LLM, modelo 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prompt versionados.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5B6"/>
                </a:solidFill>
                <a:latin typeface="Calibri"/>
              </a:rPr>
              <a:t>PROVAS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3A5E"/>
                </a:solidFill>
                <a:latin typeface="Calibri"/>
              </a:rPr>
              <a:t>Resultados e validação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463040" cy="54864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5C6C"/>
                </a:solidFill>
                <a:latin typeface="Calibri"/>
              </a:rPr>
              <a:t>InsurMinds · Grupo AlgorithLabs · I2A2 · Outubro/2026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A5C6C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697480" cy="1417320"/>
          </a:xfrm>
          <a:prstGeom prst="round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475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87168"/>
            <a:ext cx="2423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FE3F5"/>
                </a:solidFill>
                <a:latin typeface="Calibri"/>
              </a:rPr>
              <a:t>testes automatizados aprovados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600200"/>
            <a:ext cx="2697480" cy="1417320"/>
          </a:xfrm>
          <a:prstGeom prst="round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73736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487168"/>
            <a:ext cx="2423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FE3F5"/>
                </a:solidFill>
                <a:latin typeface="Calibri"/>
              </a:rPr>
              <a:t>tipos de agentes de 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600200"/>
            <a:ext cx="2697480" cy="1417320"/>
          </a:xfrm>
          <a:prstGeom prst="round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173736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487168"/>
            <a:ext cx="2423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FE3F5"/>
                </a:solidFill>
                <a:latin typeface="Calibri"/>
              </a:rPr>
              <a:t>campos críticos comparáveis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600200"/>
            <a:ext cx="2697480" cy="1417320"/>
          </a:xfrm>
          <a:prstGeom prst="round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173736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~80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2487168"/>
            <a:ext cx="2423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FE3F5"/>
                </a:solidFill>
                <a:latin typeface="Calibri"/>
              </a:rPr>
              <a:t>campos no relatório D&amp;O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461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23A5E"/>
                </a:solidFill>
                <a:latin typeface="Calibri"/>
              </a:rPr>
              <a:t>Validação com apólices reais de seguradoras (AXA, Allianz e Porto)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03320"/>
            <a:ext cx="5532120" cy="13716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82296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813048"/>
            <a:ext cx="5202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Documento real processado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4197096"/>
            <a:ext cx="52029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Condições Gerais de 104 e 75 páginas convertidas em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markdown estruturado (~250 mil caracteres) com seções citáveis.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703320"/>
            <a:ext cx="5468112" cy="13716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703320"/>
            <a:ext cx="82296" cy="1371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7" y="3813048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Descoberta além do catálogo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4197096"/>
            <a:ext cx="5138928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12 e 17 achados relevantes por apólice registrados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automaticamente fora dos 10 campos críticos.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303520"/>
            <a:ext cx="11237976" cy="685800"/>
          </a:xfrm>
          <a:prstGeom prst="round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42239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23A5E"/>
                </a:solidFill>
                <a:latin typeface="Calibri"/>
              </a:rPr>
              <a:t>Gate de qualidade contínuo: lint (Ruff) + tipos (mypy) + testes (pytest) — nenhuma entrega sem o gate verde.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5B6"/>
                </a:solidFill>
                <a:latin typeface="Calibri"/>
              </a:rPr>
              <a:t>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3A5E"/>
                </a:solidFill>
                <a:latin typeface="Calibri"/>
              </a:rPr>
              <a:t>Aplicação e mercado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463040" cy="54864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5C6C"/>
                </a:solidFill>
                <a:latin typeface="Calibri"/>
              </a:rPr>
              <a:t>InsurMinds · Grupo AlgorithLabs · I2A2 · Outubro/2026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A5C6C"/>
                </a:solidFill>
                <a:latin typeface="Calibr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3611880" cy="21488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82296" cy="2148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0992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Para quem 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93976"/>
            <a:ext cx="3282696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Corretoras e seguradoras;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mesas de cotação e renovação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D&amp;O; equipes de análise de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risco e compliance de apólices.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600200"/>
            <a:ext cx="3611880" cy="21488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600200"/>
            <a:ext cx="82296" cy="21488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70992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Ganho imediato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093976"/>
            <a:ext cx="3282696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Horas de leitura manual →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minutos de processamento;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comparação auditável;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renovações rastreáveis.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600200"/>
            <a:ext cx="3611880" cy="21488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9016" y="1600200"/>
            <a:ext cx="82296" cy="2148840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4" y="170992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Uso do IA generativo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2093976"/>
            <a:ext cx="3282696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Extração, explicações,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assistente de dúvidas 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relatório — com decisões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estratégicas sempre humanas.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14800"/>
            <a:ext cx="11237976" cy="18288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315968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A5E"/>
                </a:solidFill>
                <a:latin typeface="Calibri"/>
              </a:rPr>
              <a:t>Cenário de uso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2733"/>
                </a:solidFill>
                <a:latin typeface="Calibri"/>
              </a:rPr>
              <a:t>O analista recebe duas propostas de apólice D&amp;O, carrega os PDFs e, em minutos, obtém a comparação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2733"/>
                </a:solidFill>
                <a:latin typeface="Calibri"/>
              </a:rPr>
              <a:t>campo a campo, as divergências sinalizadas, o relatório com ranking ajustado ao perfil do cliente e cada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2733"/>
                </a:solidFill>
                <a:latin typeface="Calibri"/>
              </a:rPr>
              <a:t>informação ligada à página exata da apólice — pronto para defender a recomendação perante o cliente.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5B6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3A5E"/>
                </a:solidFill>
                <a:latin typeface="Calibri"/>
              </a:rPr>
              <a:t>Evolução futura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463040" cy="54864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5C6C"/>
                </a:solidFill>
                <a:latin typeface="Calibri"/>
              </a:rPr>
              <a:t>InsurMinds · Grupo AlgorithLabs · I2A2 · Outubro/2026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A5C6C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3611880" cy="20116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82296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5564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Otimizar o Relatório D&amp;O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39696"/>
            <a:ext cx="3282696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Agrupar categorias por chamada e paralelizar — menos latência e custo.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645920"/>
            <a:ext cx="3611880" cy="20116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645920"/>
            <a:ext cx="82296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75564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Apólice completa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139696"/>
            <a:ext cx="3282696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Validar extração com condições gerais + especificação (onde moram os valores).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645920"/>
            <a:ext cx="3611880" cy="20116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9016" y="1645920"/>
            <a:ext cx="82296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4" y="175564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Upload de imagem avulsa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2139696"/>
            <a:ext cx="3282696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Aceitar PNG/JPG direto no uploader, reutilizando o OCR existente.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86200"/>
            <a:ext cx="3611880" cy="20116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886200"/>
            <a:ext cx="82296" cy="20116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99592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Comparação de N apólices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379976"/>
            <a:ext cx="3282696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Auditoria de renovação: apólice nova × versões anteriores.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886200"/>
            <a:ext cx="3611880" cy="20116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8" y="3886200"/>
            <a:ext cx="82296" cy="20116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399592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Modelo local de 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379976"/>
            <a:ext cx="3282696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Operação 100% offline para documentos sensíveis (ex.: via Ollama).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29016" y="3886200"/>
            <a:ext cx="3611880" cy="20116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C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9016" y="3886200"/>
            <a:ext cx="82296" cy="20116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4" y="3995928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3A5E"/>
                </a:solidFill>
                <a:latin typeface="Calibri"/>
              </a:rPr>
              <a:t>Multiusuário e auditoria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4" y="4379976"/>
            <a:ext cx="3282696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C2733"/>
                </a:solidFill>
                <a:latin typeface="Calibri"/>
              </a:rPr>
              <a:t>Autenticação, trilha por usuário e dashboard de custos.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27248"/>
            <a:ext cx="12191695" cy="64008"/>
          </a:xfrm>
          <a:prstGeom prst="rect">
            <a:avLst/>
          </a:prstGeom>
          <a:solidFill>
            <a:srgbClr val="D98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FE3F5"/>
                </a:solidFill>
                <a:latin typeface="Calibri"/>
              </a:rPr>
              <a:t>InsurMinds — mais eficiência na análise de apólices. Mais segurança nas decisões.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5486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Grupo AlgorithLabs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E3F5"/>
                </a:solidFill>
                <a:latin typeface="Calibri"/>
              </a:rPr>
              <a:t>Giovani Amiti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E3F5"/>
                </a:solidFill>
                <a:latin typeface="Calibri"/>
              </a:rPr>
              <a:t>Pablo Benachio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E3F5"/>
                </a:solidFill>
                <a:latin typeface="Calibri"/>
              </a:rPr>
              <a:t>Eridalgo Ramos da Silva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3611880"/>
            <a:ext cx="3931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Instituto de Inteligência Artificial Aplicada — I2A2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A8C8E4"/>
                </a:solidFill>
                <a:latin typeface="Calibri"/>
              </a:rPr>
              <a:t>Desafio Final · Projeto Integrador · Outubro/2026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